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307" r:id="rId5"/>
    <p:sldId id="259" r:id="rId6"/>
    <p:sldId id="260" r:id="rId7"/>
    <p:sldId id="306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AFC"/>
    <a:srgbClr val="FFFFFF"/>
    <a:srgbClr val="E7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21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 el proyecto como una aplicación embebida completa montada sobre el ejemplo WiFi de ST. Esta diapositiva puede llevar una foto del prototipo o una captura limpia de la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parte de una placa STM32 con el módulo WiFi ST67W6X. Sobre el ejemplo HTTP de ST se construye una aplicación real: el usuario se conecta al punto de acceso, abre la interfaz y desde ahí consulta estado, cambia configuración, sincroniza hora, mueve el mecanismo, lanza homing o activa automático. Recalcar que la web no es el proyecto: la web dispara eventos sobre una FSM, la FSM decide y una tarea dedicada mueve motores.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arranque no entra directamente en la aplicación. Primero ejecuta el esqueleto CubeIDE. La parte WiFi entra de forma especial: MX_ST67W6X_Init crea ST67W6XTask, y esa tarea llama a main_app. Dentro de main_app se inicializan logging, callbacks, driver ST67, red y después SolarApp_Start. Solo entonces se configura Soft-AP y servidor HTTP. Mencionar parche SPI_RDY dentro de USER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orden importa: WiFi viene del ejemplo ST, luego FreeRTOS crea defaultTask/gpsTask, y SolarApp_Start carga flash, crea movimiento, pide homing y crea la FSM. Insistir en que el socket HTTP no mueve motores directamente; valida y publica eventos. La separación evita que una petición HTTP bloquee el control físico.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local: STM32 crea su red, usuario abre la web. Ejemplo manual: primero MANUAL, luego objetivo X/Z, HTTP valida estado, guarda targets y dispara submit_manual_goto. La FSM recoge el evento y pide movimiento a movementTask. /status enseña estado FSM, auto_on, RTC, país, coordenadas, posición, targets, ángulos y diagnóstico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usuario interacciona</a:t>
            </a:r>
            <a:r>
              <a:rPr lang="es-ES" baseline="0" dirty="0"/>
              <a:t> con la interfaz y envía formularios al servidor web de manera asíncrona.  El servidor web gestiona estos formularios y envía los cambios de estado a la FSM, que ejecuta las rutinas correspondientes en las que se segmenta el programa y habilita los distintos modos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1CBEF8-A2DC-4207-B976-6347D87D78B2}" type="slidenum">
              <a:rPr lang="es-ES_tradnl" smtClean="0"/>
              <a:pPr>
                <a:defRPr/>
              </a:pPr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2172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FSM es el centro de control. No se permite que cualquier botón actúe en cualquier modo. Manual y efemérides se bloquean si automático está activo. fsmTask espera eventos, fsmProcess cambia estado y si hay acción física llama a requestMove/requestHome. En AUTO_MODE ejecuta autoMode periódicamente.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autoMode no vive dentro de la web. Lo ejecuta fsmTask si el estado es AUTO_MODE. Lee RTC, rellena entradas solares, calcula posición solar, AOI e interpolación a X/Z. Si la diferencia supera 0,5 mm, encola movimiento. GPS se sincroniza al final del arranque Soft-AP: enciende receptor, lee NMEA, ajusta RTC y apaga GPS. Mencionar que GPS_REQUIRE_FIX_FOR_RTC_SYNC = 0 es decisión de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configuración define contexto solar y se guarda en flash. La hora manual existe para pruebas sin GPS. En manual, el usuario no manda pasos a motores; manda X/Z en mm. El firmware lo interpreta como objetivo absoluto y lo convierte internamente. Efemérides se parece al automático, pero azimuth/elevation entran desde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CubeMX configura periféricos y pines; el código propio añade lógica de uso. GPS_enable tiene estado inicial bajo para dejar el GPS apagado. Al sincronizar, se pone alto, espera asentamiento y empieza a leer NMEA. Motores usan STEP/DIR/ENABLE con temporización directa por DWT. Finales de carrera llegan por EXTI.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tarea de movimiento es deliberadamente serial: evita dos movimientos físicos simultáneos o una cola larga de objetivos antiguos. CMD_MOVE llama a move(x,z); CMD_HOME llama a GoHomePair. Posición física en g_x_val/g_z_val y objetivos en g_x_target/g_z_target. Tras cada movimiento se guarda con savePos; al reinicio aun así se pide homing para referenciar de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EEPROM externa ni FS. Se guarda una estructura en la última página de flash interna, con magic WCV1, version, size y CRC. Storage_LoadAll valida y carga, o usa defaults. Ventaja: formato único y controlado. Limitación: cada guardado borra/programa la página completa; para producto haría falta wear leveling o reducir escrituras.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esconder parches: explicarlos con lenguaje técnico. El proyecto migra/adapta un ejemplo ST, con ventajas y complejidad. SPI_RDY necesitó asegurarse después de regenerar pinout. GPS se pide tras Soft‑AP para no bloquear ni interferir con arranque. Mencionar RTC_WEEKDAY_MONDAY como detalle a pulir y endpoints GET como válido para laboratorio pero mejorable.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defendible: se ha priorizado funcionamiento sobre hardware real con arquitectura separada por tareas y parches localizados. No vender como producto cerrado: prototipo avanzado con puntos de mejora identificados. Eso demuestra criterio técnico y conocimiento real del firmware.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apoyo para recordar qué capturas o diagramas faltan. No es necesario presentarla.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3586" y="260353"/>
            <a:ext cx="175683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3" descr="escupm01_new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6" y="5803900"/>
            <a:ext cx="15367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60648"/>
            <a:ext cx="9518848" cy="792088"/>
          </a:xfrm>
          <a:prstGeom prst="rect">
            <a:avLst/>
          </a:prstGeom>
        </p:spPr>
        <p:txBody>
          <a:bodyPr vert="horz" anchor="ctr"/>
          <a:lstStyle>
            <a:lvl1pPr>
              <a:defRPr sz="2800" b="1">
                <a:latin typeface="Lato" panose="020F0502020204030203" pitchFamily="34" charset="0"/>
              </a:defRPr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5360640"/>
          </a:xfrm>
          <a:prstGeom prst="rect">
            <a:avLst/>
          </a:prstGeom>
        </p:spPr>
        <p:txBody>
          <a:bodyPr vert="horz"/>
          <a:lstStyle>
            <a:lvl1pPr>
              <a:defRPr sz="2000">
                <a:latin typeface="Lato" panose="020F0502020204030203" pitchFamily="34" charset="0"/>
              </a:defRPr>
            </a:lvl1pPr>
            <a:lvl2pPr>
              <a:defRPr sz="1800">
                <a:latin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</a:defRPr>
            </a:lvl3pPr>
            <a:lvl4pPr>
              <a:defRPr sz="1400">
                <a:latin typeface="Lato" panose="020F0502020204030203" pitchFamily="34" charset="0"/>
              </a:defRPr>
            </a:lvl4pPr>
            <a:lvl5pPr>
              <a:defRPr sz="1400">
                <a:latin typeface="Lato" panose="020F0502020204030203" pitchFamily="34" charset="0"/>
              </a:defRPr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6A4B80-14AF-445B-B704-706A356374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8AA98-757B-431C-9707-115630462B55}" type="slidenum">
              <a:rPr lang="es-ES_tradnl"/>
              <a:pPr>
                <a:defRPr/>
              </a:pPr>
              <a:t>‹Nº›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49374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7285">
              <a:alpha val="90000"/>
            </a:srgbClr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 Control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758952" y="203911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firmware presentation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58952" y="2761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· routines · modes · patches · real prototype status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261872"/>
            <a:ext cx="3931920" cy="3858768"/>
          </a:xfrm>
          <a:prstGeom prst="roundRect">
            <a:avLst>
              <a:gd name="adj" fmla="val 3791"/>
            </a:avLst>
          </a:prstGeom>
          <a:solidFill>
            <a:srgbClr val="152D44"/>
          </a:solidFill>
          <a:ln w="19050">
            <a:solidFill>
              <a:srgbClr val="16A8C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818120" y="1600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HERE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92440" y="2331720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photo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 main web UI screenshot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638251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deck · replace the boxes with your screenshots/diagrams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8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the system does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before getting into code: problem, parts, and external use.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FontTx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Brings up Soft-AP WiFi and a local HTTP interface.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Calculates positions using date, time, location and orientation.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panel position with stepper motors.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automatic, manual, ephemeris input, and homing.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Saves configuration and state across resets.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web UI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main_app() → SolarApp_Start()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fsmTask() selects the routine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movementTask() executes the physical action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main_app.c  ·  httpserver.c  ·  state_machine.c  ·  movement_task.cpp  ·  autoMode.cpp  ·  storage.c</a:t>
            </a:r>
            <a:endParaRPr lang="en-US" sz="820" dirty="0"/>
          </a:p>
        </p:txBody>
      </p:sp>
      <p:sp>
        <p:nvSpPr>
          <p:cNvPr id="28" name="Nube 27">
            <a:extLst>
              <a:ext uri="{FF2B5EF4-FFF2-40B4-BE49-F238E27FC236}">
                <a16:creationId xmlns:a16="http://schemas.microsoft.com/office/drawing/2014/main" id="{B5F40103-DA61-EE63-B861-ED99F935402F}"/>
              </a:ext>
            </a:extLst>
          </p:cNvPr>
          <p:cNvSpPr/>
          <p:nvPr/>
        </p:nvSpPr>
        <p:spPr bwMode="auto">
          <a:xfrm>
            <a:off x="6270120" y="1802130"/>
            <a:ext cx="1796429" cy="974852"/>
          </a:xfrm>
          <a:prstGeom prst="cloud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D21B5C9-21B3-12AB-5793-E447AFDE0FB3}"/>
              </a:ext>
            </a:extLst>
          </p:cNvPr>
          <p:cNvSpPr txBox="1"/>
          <p:nvPr/>
        </p:nvSpPr>
        <p:spPr>
          <a:xfrm>
            <a:off x="6331173" y="1893930"/>
            <a:ext cx="1469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</a:t>
            </a:r>
            <a:br>
              <a:rPr lang="es-ES" sz="2200" dirty="0"/>
            </a:br>
            <a:r>
              <a:rPr lang="es-ES" sz="2200" dirty="0"/>
              <a:t>Server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87A06DC-7AD6-355F-EAA7-C6CB53AAF790}"/>
              </a:ext>
            </a:extLst>
          </p:cNvPr>
          <p:cNvSpPr/>
          <p:nvPr/>
        </p:nvSpPr>
        <p:spPr>
          <a:xfrm>
            <a:off x="6111772" y="2857730"/>
            <a:ext cx="1091682" cy="863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GPS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FE8D66D-44FE-2E53-EAAD-E1E26AF850C7}"/>
              </a:ext>
            </a:extLst>
          </p:cNvPr>
          <p:cNvSpPr/>
          <p:nvPr/>
        </p:nvSpPr>
        <p:spPr>
          <a:xfrm>
            <a:off x="7909560" y="3400153"/>
            <a:ext cx="1091682" cy="86387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>
                <a:solidFill>
                  <a:schemeClr val="tx1"/>
                </a:solidFill>
              </a:rPr>
              <a:t>MCU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C175121-D898-5930-BBAB-2EEDB9D7DC04}"/>
              </a:ext>
            </a:extLst>
          </p:cNvPr>
          <p:cNvSpPr/>
          <p:nvPr/>
        </p:nvSpPr>
        <p:spPr bwMode="auto">
          <a:xfrm>
            <a:off x="7604531" y="4910328"/>
            <a:ext cx="1817065" cy="474269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Movement</a:t>
            </a:r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567EC1B6-F097-56F0-C7D7-5061B46BBEF4}"/>
              </a:ext>
            </a:extLst>
          </p:cNvPr>
          <p:cNvSpPr/>
          <p:nvPr/>
        </p:nvSpPr>
        <p:spPr>
          <a:xfrm>
            <a:off x="8299953" y="4358030"/>
            <a:ext cx="279918" cy="4742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Flecha: hacia abajo 43">
            <a:extLst>
              <a:ext uri="{FF2B5EF4-FFF2-40B4-BE49-F238E27FC236}">
                <a16:creationId xmlns:a16="http://schemas.microsoft.com/office/drawing/2014/main" id="{ABFD2384-0169-865A-9E41-981D9216B73F}"/>
              </a:ext>
            </a:extLst>
          </p:cNvPr>
          <p:cNvSpPr/>
          <p:nvPr/>
        </p:nvSpPr>
        <p:spPr>
          <a:xfrm rot="18566095">
            <a:off x="7434280" y="2823677"/>
            <a:ext cx="341499" cy="5979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9043DDD-2D5F-C95E-6AA4-EB009759851E}"/>
              </a:ext>
            </a:extLst>
          </p:cNvPr>
          <p:cNvSpPr txBox="1"/>
          <p:nvPr/>
        </p:nvSpPr>
        <p:spPr>
          <a:xfrm>
            <a:off x="7643976" y="2699370"/>
            <a:ext cx="1620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Configuration</a:t>
            </a:r>
          </a:p>
        </p:txBody>
      </p:sp>
      <p:sp>
        <p:nvSpPr>
          <p:cNvPr id="49" name="Flecha: hacia abajo 48">
            <a:extLst>
              <a:ext uri="{FF2B5EF4-FFF2-40B4-BE49-F238E27FC236}">
                <a16:creationId xmlns:a16="http://schemas.microsoft.com/office/drawing/2014/main" id="{0DC75699-863A-F435-7A46-07BDA0CCA01C}"/>
              </a:ext>
            </a:extLst>
          </p:cNvPr>
          <p:cNvSpPr/>
          <p:nvPr/>
        </p:nvSpPr>
        <p:spPr>
          <a:xfrm rot="16200000">
            <a:off x="9237394" y="3496234"/>
            <a:ext cx="341499" cy="5979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Diagrama de flujo: disco magnético 49">
            <a:extLst>
              <a:ext uri="{FF2B5EF4-FFF2-40B4-BE49-F238E27FC236}">
                <a16:creationId xmlns:a16="http://schemas.microsoft.com/office/drawing/2014/main" id="{4AC1331C-8CD0-78D0-45BC-023394012C1D}"/>
              </a:ext>
            </a:extLst>
          </p:cNvPr>
          <p:cNvSpPr/>
          <p:nvPr/>
        </p:nvSpPr>
        <p:spPr>
          <a:xfrm>
            <a:off x="9897844" y="3481578"/>
            <a:ext cx="1058686" cy="589788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CC5DC04-E4FF-459D-2E86-48C20CFE0779}"/>
              </a:ext>
            </a:extLst>
          </p:cNvPr>
          <p:cNvSpPr txBox="1"/>
          <p:nvPr/>
        </p:nvSpPr>
        <p:spPr>
          <a:xfrm>
            <a:off x="9599046" y="3019042"/>
            <a:ext cx="1620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Persitant</a:t>
            </a:r>
            <a:r>
              <a:rPr lang="es-ES" dirty="0"/>
              <a:t>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Real firmware startup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from reset to an operational system with WiFi, tasks, and HTTP server.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main() initializes HAL, power, clock, and CubeMX peripherals.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GPIO, DMA, cache, SPI1, UARTs, LPTIM, RTC, and ST67W6X are configured.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ST67W6X module task is created before FreeRTOS starts.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MX_FREERTOS_Init() creates defaultTask and gpsTask.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the scheduler running, ST67W6XTask executes main_app().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HAL/clock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CubeMX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FreeRTOS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main_app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MX_ST67W6X_Init() creates ST67W6XTask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main_app() initializes WiFi/network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SolarApp_Start() starts the custom app layer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Startup sequence diagram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Reset → HAL/clock → peripherals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FreeRTOS tasks → main_app()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SolarApp_Start → Soft‑AP → GPS sync → HTTP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Core/Src/main.c  ·  app_st67w6x.c  ·  app_freertos.c  ·  Appli/App/main_app.c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33ECA9D-A493-14B4-E327-AF3508A08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42" y="66413"/>
            <a:ext cx="12079115" cy="67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3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Task and service creation order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of concurrent tasks and layer separation.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ST67W6XTask: WiFi initialization and main application.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gpsTask: NMEA reading and RTC synchronization.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movementTask: serializes homing and motor moves.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fsmTask: modes, events, and automatic routines.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ST67W6XTask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SolarApp_Start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movementTask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requestHome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fsmTask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initMovementTask() + moveQueue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initial requestHome()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initFSM() + fsmQueue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Layer diagram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WiFi/HTTP: sockets and ST67W6X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Control: FSM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Actuation: movementTask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Time: GPS + RTC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Data: flash storage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app_st67w6x.c  ·  app_freertos.c  ·  solar_app.c  ·  movement_task.cpp  ·  state_machine.c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Overall operating flow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use: from user connection to physical movement.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user connects to the STM32 Soft-AP.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 UI refreshes status through /status.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Buttons and forms call HTTP endpoints.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 validate the mode and publish events.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FSM updates targets and movementTask executes them.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button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fsmPostEvent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requestMove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/status centralizes live status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/manual_goto → submit_manual_goto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/eph_submit → submit_eph_input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httpserver.c  ·  state_machine.c  ·  manual_mode.cpp  ·  eph_input_mode.cpp</a:t>
            </a:r>
            <a:endParaRPr lang="en-US" sz="82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590F160B-DCEA-0900-20D9-F9E022A0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755649"/>
            <a:ext cx="6381980" cy="35579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8AA98-757B-431C-9707-115630462B55}" type="slidenum">
              <a:rPr lang="es-ES_tradnl" smtClean="0"/>
              <a:pPr>
                <a:defRPr/>
              </a:pPr>
              <a:t>7</a:t>
            </a:fld>
            <a:endParaRPr lang="es-ES_tradnl" dirty="0"/>
          </a:p>
        </p:txBody>
      </p:sp>
      <p:sp>
        <p:nvSpPr>
          <p:cNvPr id="7" name="Nube 6"/>
          <p:cNvSpPr/>
          <p:nvPr/>
        </p:nvSpPr>
        <p:spPr bwMode="auto">
          <a:xfrm>
            <a:off x="5171042" y="818032"/>
            <a:ext cx="2376264" cy="1440160"/>
          </a:xfrm>
          <a:prstGeom prst="cloud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337520" y="1122615"/>
            <a:ext cx="1944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</a:t>
            </a:r>
            <a:br>
              <a:rPr lang="es-ES" sz="2200" dirty="0"/>
            </a:br>
            <a:r>
              <a:rPr lang="es-ES" sz="2200" dirty="0"/>
              <a:t>Server</a:t>
            </a:r>
          </a:p>
        </p:txBody>
      </p:sp>
      <p:sp>
        <p:nvSpPr>
          <p:cNvPr id="9" name="Rectángulo redondeado 8"/>
          <p:cNvSpPr/>
          <p:nvPr/>
        </p:nvSpPr>
        <p:spPr bwMode="auto">
          <a:xfrm>
            <a:off x="8562226" y="3344500"/>
            <a:ext cx="1221432" cy="120758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8186684" y="3717460"/>
            <a:ext cx="1944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Web GUI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78" y="2831347"/>
            <a:ext cx="2944298" cy="2937272"/>
          </a:xfrm>
          <a:prstGeom prst="rect">
            <a:avLst/>
          </a:prstGeom>
        </p:spPr>
      </p:pic>
      <p:sp>
        <p:nvSpPr>
          <p:cNvPr id="12" name="Flecha abajo 11"/>
          <p:cNvSpPr/>
          <p:nvPr/>
        </p:nvSpPr>
        <p:spPr bwMode="auto">
          <a:xfrm rot="7924078">
            <a:off x="7517902" y="1756472"/>
            <a:ext cx="675828" cy="190966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8202469" y="6282035"/>
            <a:ext cx="2415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User interaction</a:t>
            </a:r>
          </a:p>
        </p:txBody>
      </p:sp>
      <p:sp>
        <p:nvSpPr>
          <p:cNvPr id="14" name="Flecha abajo 13"/>
          <p:cNvSpPr/>
          <p:nvPr/>
        </p:nvSpPr>
        <p:spPr bwMode="auto">
          <a:xfrm rot="2726525">
            <a:off x="4071683" y="1764239"/>
            <a:ext cx="661597" cy="2093526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2" name="Cara sonriente 1"/>
          <p:cNvSpPr/>
          <p:nvPr/>
        </p:nvSpPr>
        <p:spPr bwMode="auto">
          <a:xfrm>
            <a:off x="8615654" y="5329725"/>
            <a:ext cx="1119019" cy="983104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7" name="Flecha abajo 16"/>
          <p:cNvSpPr/>
          <p:nvPr/>
        </p:nvSpPr>
        <p:spPr bwMode="auto">
          <a:xfrm rot="10800000">
            <a:off x="8888757" y="4653827"/>
            <a:ext cx="547300" cy="544568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8239860" y="2383027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(Requests)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2754436" y="2042748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FSM Events</a:t>
            </a:r>
          </a:p>
        </p:txBody>
      </p:sp>
      <p:sp>
        <p:nvSpPr>
          <p:cNvPr id="5" name="Rectángulo redondeado 8">
            <a:extLst>
              <a:ext uri="{FF2B5EF4-FFF2-40B4-BE49-F238E27FC236}">
                <a16:creationId xmlns:a16="http://schemas.microsoft.com/office/drawing/2014/main" id="{37E1E108-DF69-4C9C-A441-B0486C005435}"/>
              </a:ext>
            </a:extLst>
          </p:cNvPr>
          <p:cNvSpPr/>
          <p:nvPr/>
        </p:nvSpPr>
        <p:spPr bwMode="auto">
          <a:xfrm>
            <a:off x="213166" y="5789860"/>
            <a:ext cx="1945835" cy="1060884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102C682-F388-BF78-D8FC-3733E402F28C}"/>
              </a:ext>
            </a:extLst>
          </p:cNvPr>
          <p:cNvSpPr txBox="1"/>
          <p:nvPr/>
        </p:nvSpPr>
        <p:spPr>
          <a:xfrm>
            <a:off x="6640503" y="2000114"/>
            <a:ext cx="50183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200" dirty="0"/>
              <a:t>HTTP Endpoints</a:t>
            </a:r>
          </a:p>
        </p:txBody>
      </p:sp>
      <p:sp>
        <p:nvSpPr>
          <p:cNvPr id="23" name="Rectángulo redondeado 8">
            <a:extLst>
              <a:ext uri="{FF2B5EF4-FFF2-40B4-BE49-F238E27FC236}">
                <a16:creationId xmlns:a16="http://schemas.microsoft.com/office/drawing/2014/main" id="{A1AC2598-6AC0-791E-E96F-541F561DA17F}"/>
              </a:ext>
            </a:extLst>
          </p:cNvPr>
          <p:cNvSpPr/>
          <p:nvPr/>
        </p:nvSpPr>
        <p:spPr bwMode="auto">
          <a:xfrm>
            <a:off x="9436057" y="99031"/>
            <a:ext cx="2489917" cy="1207586"/>
          </a:xfrm>
          <a:prstGeom prst="roundRect">
            <a:avLst/>
          </a:prstGeom>
          <a:solidFill>
            <a:srgbClr val="F8FAF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864386" y="5789860"/>
            <a:ext cx="42946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/>
              <a:t>Enables </a:t>
            </a:r>
            <a:r>
              <a:rPr lang="es-ES" sz="2200" dirty="0" err="1"/>
              <a:t>configuration</a:t>
            </a:r>
            <a:r>
              <a:rPr lang="es-ES" sz="2200" dirty="0"/>
              <a:t> and movement modes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dirty="0"/>
              <a:t>Runs automatic tracking mode</a:t>
            </a:r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115B21D-0A54-4C11-A505-0E6A6F5B1072}"/>
              </a:ext>
            </a:extLst>
          </p:cNvPr>
          <p:cNvSpPr txBox="1"/>
          <p:nvPr/>
        </p:nvSpPr>
        <p:spPr>
          <a:xfrm>
            <a:off x="1222458" y="4093248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FSM</a:t>
            </a:r>
          </a:p>
        </p:txBody>
      </p:sp>
      <p:sp>
        <p:nvSpPr>
          <p:cNvPr id="28" name="Flecha abajo 13">
            <a:extLst>
              <a:ext uri="{FF2B5EF4-FFF2-40B4-BE49-F238E27FC236}">
                <a16:creationId xmlns:a16="http://schemas.microsoft.com/office/drawing/2014/main" id="{D1285824-181D-CD18-50B3-3061D1AFD103}"/>
              </a:ext>
            </a:extLst>
          </p:cNvPr>
          <p:cNvSpPr/>
          <p:nvPr/>
        </p:nvSpPr>
        <p:spPr bwMode="auto">
          <a:xfrm rot="16529704">
            <a:off x="4045998" y="3725570"/>
            <a:ext cx="438496" cy="1295935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0" name="Flecha abajo 13">
            <a:extLst>
              <a:ext uri="{FF2B5EF4-FFF2-40B4-BE49-F238E27FC236}">
                <a16:creationId xmlns:a16="http://schemas.microsoft.com/office/drawing/2014/main" id="{8678BF6F-C829-5762-E119-2915A5684BEF}"/>
              </a:ext>
            </a:extLst>
          </p:cNvPr>
          <p:cNvSpPr/>
          <p:nvPr/>
        </p:nvSpPr>
        <p:spPr bwMode="auto">
          <a:xfrm>
            <a:off x="5754495" y="2383027"/>
            <a:ext cx="496008" cy="1798457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400">
              <a:solidFill>
                <a:srgbClr val="000000"/>
              </a:solidFill>
              <a:latin typeface="Arial" charset="0"/>
              <a:ea typeface="ＭＳ Ｐゴシック" charset="0"/>
              <a:cs typeface="Geneva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3A73C38-BE3A-EF9B-B956-2CF762D69532}"/>
              </a:ext>
            </a:extLst>
          </p:cNvPr>
          <p:cNvSpPr/>
          <p:nvPr/>
        </p:nvSpPr>
        <p:spPr bwMode="auto">
          <a:xfrm>
            <a:off x="5050131" y="4313983"/>
            <a:ext cx="1817065" cy="789861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Movement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200" dirty="0">
                <a:solidFill>
                  <a:srgbClr val="000000"/>
                </a:solidFill>
                <a:latin typeface="Arial" charset="0"/>
                <a:ea typeface="ＭＳ Ｐゴシック" charset="0"/>
                <a:cs typeface="Geneva" charset="0"/>
              </a:rPr>
              <a:t>Task</a:t>
            </a:r>
          </a:p>
        </p:txBody>
      </p:sp>
      <p:sp>
        <p:nvSpPr>
          <p:cNvPr id="3" name="Flecha: curvada hacia arriba 2">
            <a:extLst>
              <a:ext uri="{FF2B5EF4-FFF2-40B4-BE49-F238E27FC236}">
                <a16:creationId xmlns:a16="http://schemas.microsoft.com/office/drawing/2014/main" id="{45E9C807-0BD7-A80F-2675-82FA4B5FC491}"/>
              </a:ext>
            </a:extLst>
          </p:cNvPr>
          <p:cNvSpPr/>
          <p:nvPr/>
        </p:nvSpPr>
        <p:spPr>
          <a:xfrm rot="16200000">
            <a:off x="9583670" y="3702621"/>
            <a:ext cx="956607" cy="49134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1959A21-1860-B4C3-9E1C-7EFCDD5CF59B}"/>
              </a:ext>
            </a:extLst>
          </p:cNvPr>
          <p:cNvSpPr txBox="1"/>
          <p:nvPr/>
        </p:nvSpPr>
        <p:spPr>
          <a:xfrm>
            <a:off x="9881498" y="3763626"/>
            <a:ext cx="17892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200" dirty="0"/>
              <a:t>/status</a:t>
            </a:r>
          </a:p>
        </p:txBody>
      </p:sp>
    </p:spTree>
    <p:extLst>
      <p:ext uri="{BB962C8B-B14F-4D97-AF65-F5344CB8AC3E}">
        <p14:creationId xmlns:p14="http://schemas.microsoft.com/office/powerpoint/2010/main" val="394263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Main states and modes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as the layer that prevents incompatible actions from being mixed.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STDBY: idle state and safe configuration.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AUTO_MODE: tracking based on date/time.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MANUAL: X/Z targets and manual homing.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EPH_INPUT: external azimuth/elevation.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transitions; state persisted in flash.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STDBY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AUTO_MODE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EPH_INPUT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fsmPostEvent() from HTTP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fsmProcess() changes state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saveState() persists the transition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diagram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STDBY ↔ AUTO_MODE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STDBY ↔ MANUAL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STDBY ↔ EPH_INPUT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events: begin/end/toggle/submit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state_machine.h  ·  state_machine.c  ·  httpserver.c  ·  storage.c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Automatic routines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parts run by themselves, at what period, and under which conditions.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AUTO_MODE, autoMode() runs every 5 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RTC is saved periodically to preserve 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startup, GPS sync is requested after bringing up the Soft-AP.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is powered only while a synchronization is pending.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moves only if the target changes by at least 0.5 mm.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X/Z 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autoMode() updates solar inputs and targets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GPS_Task_RequestTimeSync()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DisableSuppressTicksAndSleep() during calculation/movement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Automatic-flow diagram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RTC → SPA → AOI → interpolation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X/Z target → movement queue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/status screenshot before/after GPS sync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state_machine.c  ·  autoMode.cpp  ·  spa_func.cpp  ·  gps.cpp  ·  main_app.c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Manual routines and configuration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user can do and which variables each action touches.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Configuration: lat/lon, pan, tilt, correction, and country.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time: updates RTC and sets manual_time.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Manual: enters MANUAL, writes X/Z target, and moves.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Home: references the mechanics and sets position to zero.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Ephemeris input: receives azimuth/elevation and calculates X/Z.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</a:rPr>
              <a:t>Sync time: updates RTC and sets local time after a valid NMEA sentence.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Ephemeris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http_apply_config_submit() → saveData()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setManualTime() → RTC/manual_time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manualModeGoto() and ephInputMode()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→ effect table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 action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FSM event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Variables touched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Effect visible in /status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httpserver.c  ·  manual_mode.cpp  ·  eph_input_mode.cpp  ·  state_machine.c  ·  storage.c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Hardware and peripheral control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code to the real hardware connected to the board.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ST67W6X: SPI1, SPI_RDY through EXTI, and BOOT/CHIP_EN pins.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GPS: LPUART1 + power switch through GPS_enable_Pin.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Motors: GPIO STEP/DIR/ENABLE.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Endstops: EXTI and software-cached state.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RS485 remains prepared on USART2.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Endstops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 is off by default and turns on for sync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DWT generates STEP pulses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EXTI updates endstop state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Pin → function table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CubeMX screenshot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GPS/drivers wiring photo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Oscilloscope or logic analyzer with STEP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main.c  ·  main.h  ·  gps.cpp  ·  movement.cpp  ·  main_app.c  ·  controled_shutdown.c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Real movement and homing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logical command becomes physical movement and position referencing.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enter a FreeRTOS queue.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requestHome() runs at startup to reference the mechanics.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move(x,z) treats targets as absolute positions in mm.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Homing: first touch, backoff, and second touch.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move/home, g_x_val and g_z_val are saved.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requestMove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moveQueue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movementTask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move/GoHomePair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savePos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requestMove() rejects stale commands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movementTask() serializes commands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GoHomePair() sets software zero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Homing sequence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Approach → endstop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Backoff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Second touch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Zero position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Video/photos of initial homing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movement_task.cpp  ·  movement.cpp  ·  movement.h  ·  storage.c  ·  global_structs.h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Configuration and data persistence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data survives a reset and the limitations of the solution.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persistent record in the last flash page.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with magic, version, size, and CRC.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config, FSM, position, time mode, manual time, and country.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validation fails, defaults are loaded.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save API updates the full record.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3974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678838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26157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81021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8339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683203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0522" y="3493008"/>
            <a:ext cx="929030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85386" y="3602736"/>
            <a:ext cx="81930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Storage_LoadAll() at startup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saveData()/saveState()/savePos()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storage_save_in_progress prevents re-entry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Flash record structure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Header: magic/version/size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 + state + position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Time/manual_time + country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CRC at the end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storage.c  ·  storage.h  ·  solar_app.c  ·  state_machine.c  ·  movement_task.cpp  ·  httpserver.c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Practical issues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real issues as technical decisions made to move the prototype forward.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Inherited ST example structure: middleware + generated code.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sensitive to Target folders and HTML prebuild.</a:t>
            </a:r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</a:rPr>
              <a:t>Individual second touch motor movement to prevent end-stop damages.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improvement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fixes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WiFi ready interrupt restored after custom pinout changes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Boot sequence reordered: Soft-AP → GPS sync → homing → FSM</a:t>
            </a:r>
          </a:p>
          <a:p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 receiver powered only when time synchronization is needed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 err="1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main_app.c</a:t>
            </a: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·  gps.cpp  ·  html_pages.h  · </a:t>
            </a:r>
            <a:endParaRPr lang="en-US" sz="82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D79707A-74C9-5836-E3DF-36A21374C820}"/>
              </a:ext>
            </a:extLst>
          </p:cNvPr>
          <p:cNvSpPr txBox="1"/>
          <p:nvPr/>
        </p:nvSpPr>
        <p:spPr>
          <a:xfrm>
            <a:off x="6453564" y="1814235"/>
            <a:ext cx="6386711" cy="192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dirty="0"/>
            </a:b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Appli</a:t>
            </a:r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\App </a:t>
            </a:r>
            <a:r>
              <a:rPr lang="en-US" sz="140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server and main app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Html</a:t>
            </a:r>
            <a:r>
              <a:rPr lang="en-US" sz="140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→ HTML build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\ST67W6X_HTTP_Server\Core\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Src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r>
              <a:rPr lang="es-ES" sz="1370" dirty="0">
                <a:solidFill>
                  <a:srgbClr val="1F2937"/>
                </a:solidFill>
                <a:latin typeface="Aptos" pitchFamily="34" charset="0"/>
              </a:rPr>
              <a:t>- \ST67W6X_HTTP_Server\Core\</a:t>
            </a:r>
            <a:r>
              <a:rPr lang="es-ES" sz="1370" dirty="0" err="1">
                <a:solidFill>
                  <a:srgbClr val="1F2937"/>
                </a:solidFill>
                <a:latin typeface="Aptos" pitchFamily="34" charset="0"/>
              </a:rPr>
              <a:t>Inc</a:t>
            </a:r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endParaRPr lang="es-ES" sz="1370" dirty="0">
              <a:solidFill>
                <a:srgbClr val="1F2937"/>
              </a:solidFill>
              <a:latin typeface="Aptos" pitchFamily="34" charset="0"/>
            </a:endParaRPr>
          </a:p>
          <a:p>
            <a:endParaRPr lang="es-ES" b="0" i="0" dirty="0">
              <a:solidFill>
                <a:srgbClr val="FFFFFF"/>
              </a:solidFill>
              <a:effectLst/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Current status and next steps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an honest status snapshot and a clear list of improvements.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4983480" cy="17922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92500"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 works: AP/HTTP, FSM, movement, homing, GPS/RTC, and flash.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 UI controls configuration, modes, time sync, home, and movement.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Robustness, calibration, build, and dependency improvements remain.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turning a stable prototype into maintainable firmware.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message: task-separated architecture and localized patches.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21792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76656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929384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27248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18211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3493008"/>
            <a:ext cx="1179576" cy="566928"/>
          </a:xfrm>
          <a:prstGeom prst="roundRect">
            <a:avLst>
              <a:gd name="adj" fmla="val 12903"/>
            </a:avLst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434840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iteration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routines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4983480" cy="1024128"/>
          </a:xfrm>
          <a:prstGeom prst="roundRect">
            <a:avLst>
              <a:gd name="adj" fmla="val 8929"/>
            </a:avLst>
          </a:prstGeom>
          <a:solidFill>
            <a:srgbClr val="F1F7FA"/>
          </a:solidFill>
          <a:ln w="12700">
            <a:solidFill>
              <a:srgbClr val="CDEA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95528" y="4517136"/>
            <a:ext cx="458114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main_app → SolarApp_Start → requestHome → initFSM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fsmTask → autoMode → requestMove → movementTask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GPS sync → RTC → storage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989320" y="1261872"/>
            <a:ext cx="5394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90488" y="1444752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roadmap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92240" y="2679192"/>
            <a:ext cx="438912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Done: functional base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Partial: calibration and testing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Pending: robustness/build/cleanup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demo photo or video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main_app.c  ·  httpserver.c  ·  state_machine.c  ·  movement_task.cpp  ·  movement.cpp  ·  gps.cpp  ·  storage.c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9646920" y="192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Control ·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7406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Appendix. Screenshot and diagram checklist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list of placeholders to replace before delivery.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129284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54864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photo / full test bench.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 and /status screenshot.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sequence diagram.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diagram: HTTP, FSM, movement, GPS/RTC, flash.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FSM state diagram.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flow: RTC → SPA → AOI → interpolation → X/Z.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→ function → file/routine table.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Homing sequence and final roadmap.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446520" y="1325880"/>
            <a:ext cx="475488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47688" y="1508760"/>
            <a:ext cx="4352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TO REPLACE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766560" y="1984248"/>
            <a:ext cx="41148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 space for thumbnails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49440" y="2743200"/>
            <a:ext cx="374904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Paste 4–6 thumbnails here if you want to use this appendix as a reminder.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 can also delete it if it is not needed.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6135624"/>
            <a:ext cx="11064240" cy="420624"/>
          </a:xfrm>
          <a:prstGeom prst="roundRect">
            <a:avLst>
              <a:gd name="adj" fmla="val 13043"/>
            </a:avLst>
          </a:prstGeom>
          <a:solidFill>
            <a:srgbClr val="EEF2F7"/>
          </a:solidFill>
          <a:ln w="1270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13232" y="6227064"/>
            <a:ext cx="10744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8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This is a working slide: you can delete it before the defense.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3089</Words>
  <Application>Microsoft Office PowerPoint</Application>
  <PresentationFormat>Panorámica</PresentationFormat>
  <Paragraphs>354</Paragraphs>
  <Slides>16</Slides>
  <Notes>15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Aptos Mono</vt:lpstr>
      <vt:lpstr>Arial</vt:lpstr>
      <vt:lpstr>Courier New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 Control — Presentación funcional</dc:title>
  <dc:subject>Presentación funcional editable - Window Control</dc:subject>
  <dc:creator>OpenAI</dc:creator>
  <cp:lastModifiedBy>ALVARO CAÑIL MONTERO</cp:lastModifiedBy>
  <cp:revision>4</cp:revision>
  <dcterms:created xsi:type="dcterms:W3CDTF">2026-07-08T10:43:42Z</dcterms:created>
  <dcterms:modified xsi:type="dcterms:W3CDTF">2026-07-10T10:06:01Z</dcterms:modified>
</cp:coreProperties>
</file>